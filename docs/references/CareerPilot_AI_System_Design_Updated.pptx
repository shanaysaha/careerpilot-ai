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6" r:id="rId17"/>
    <p:sldId id="257" r:id="rId3"/>
    <p:sldId id="267" r:id="rId18"/>
    <p:sldId id="258" r:id="rId4"/>
    <p:sldId id="268" r:id="rId19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20"/>
    <p:sldId id="270" r:id="rId2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  <Relationship Id="rId20" Type="http://schemas.openxmlformats.org/officeDocument/2006/relationships/slide" Target="slides/slide14.xml"/>
  <Relationship Id="rId21" Type="http://schemas.openxmlformats.org/officeDocument/2006/relationships/slide" Target="slides/slide15.xml"/>
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userflow-diagram.png"/><Relationship Id="rId3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dataflow-diagram.png"/><Relationship Id="rId3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457200"/>
            <a:ext cx="777240" cy="640080"/>
          </a:xfrm>
          <a:prstGeom prst="triangle">
            <a:avLst/>
          </a:prstGeom>
          <a:solidFill>
            <a:srgbClr val="9C4A2F"/>
          </a:solidFill>
          <a:ln/>
        </p:spPr>
      </p:sp>
      <p:sp>
        <p:nvSpPr>
          <p:cNvPr id="3" name="Shape 1"/>
          <p:cNvSpPr/>
          <p:nvPr/>
        </p:nvSpPr>
        <p:spPr>
          <a:xfrm>
            <a:off x="11119104" y="402336"/>
            <a:ext cx="219456" cy="219456"/>
          </a:xfrm>
          <a:prstGeom prst="ellipse">
            <a:avLst/>
          </a:prstGeom>
          <a:solidFill>
            <a:srgbClr val="FFB627"/>
          </a:solidFill>
          <a:ln/>
          <a:effectLst>
            <a:outerShdw sx="100000" sy="100000" kx="0" ky="0" algn="bl" rotWithShape="0" blurRad="127000" dist="50800" dir="16200000">
              <a:srgbClr val="FFB627">
                <a:alpha val="6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6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CAREERPILOT AI  ·  FINAL YEAR PROJECT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46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Diagram &amp; UI Wireframes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031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section presents the database structure and user interface design of CareerPilot AI — an AI-based career and placement preparation platform for college students.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818120" y="2103120"/>
            <a:ext cx="3794760" cy="3703320"/>
          </a:xfrm>
          <a:prstGeom prst="roundRect">
            <a:avLst>
              <a:gd name="adj" fmla="val 1975"/>
            </a:avLst>
          </a:prstGeom>
          <a:solidFill>
            <a:srgbClr val="241813"/>
          </a:solidFill>
          <a:ln w="12700">
            <a:solidFill>
              <a:srgbClr val="5A3A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92440" y="22860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SNAPSHOT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092440" y="272491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6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9006840" y="272491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AI career &amp; placement platform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092440" y="32095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6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9006840" y="320954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Placement Officers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369417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6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9006840" y="369417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+ Tailwind CSS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092440" y="417880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6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006840" y="41788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46634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6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006840" y="46634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FastAPI + OpenAI/Gemini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092440" y="514807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6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9006840" y="51480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22960" y="4709160"/>
            <a:ext cx="0" cy="0"/>
          </a:xfrm>
          <a:prstGeom prst="line">
            <a:avLst/>
          </a:prstGeom>
          <a:noFill/>
          <a:ln w="19050">
            <a:solidFill>
              <a:srgbClr val="C9BBB2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24128" y="4709160"/>
            <a:ext cx="1129284" cy="0"/>
          </a:xfrm>
          <a:prstGeom prst="line">
            <a:avLst/>
          </a:prstGeom>
          <a:noFill/>
          <a:ln w="19050">
            <a:solidFill>
              <a:srgbClr val="6B4A3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5748" y="4709160"/>
            <a:ext cx="1129284" cy="0"/>
          </a:xfrm>
          <a:prstGeom prst="line">
            <a:avLst/>
          </a:prstGeom>
          <a:noFill/>
          <a:ln w="19050">
            <a:solidFill>
              <a:srgbClr val="6B4A3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87368" y="4709160"/>
            <a:ext cx="1129284" cy="0"/>
          </a:xfrm>
          <a:prstGeom prst="line">
            <a:avLst/>
          </a:prstGeom>
          <a:noFill/>
          <a:ln w="19050">
            <a:solidFill>
              <a:srgbClr val="6B4A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18988" y="4709160"/>
            <a:ext cx="1129284" cy="0"/>
          </a:xfrm>
          <a:prstGeom prst="line">
            <a:avLst/>
          </a:prstGeom>
          <a:noFill/>
          <a:ln w="19050">
            <a:solidFill>
              <a:srgbClr val="6B4A3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" y="4507992"/>
            <a:ext cx="402336" cy="402336"/>
          </a:xfrm>
          <a:prstGeom prst="ellipse">
            <a:avLst/>
          </a:prstGeom>
          <a:solidFill>
            <a:srgbClr val="C9BBB2"/>
          </a:solidFill>
          <a:ln/>
          <a:effectLst>
            <a:outerShdw sx="100000" sy="100000" kx="0" ky="0" algn="bl" rotWithShape="0" blurRad="177800" dist="50800" dir="16200000">
              <a:srgbClr val="C9BBB2">
                <a:alpha val="55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21792" y="4507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37160" y="500176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153412" y="4507992"/>
            <a:ext cx="402336" cy="402336"/>
          </a:xfrm>
          <a:prstGeom prst="ellipse">
            <a:avLst/>
          </a:prstGeom>
          <a:solidFill>
            <a:srgbClr val="FFB627"/>
          </a:solidFill>
          <a:ln/>
          <a:effectLst>
            <a:outerShdw sx="100000" sy="100000" kx="0" ky="0" algn="bl" rotWithShape="0" blurRad="177800" dist="50800" dir="16200000">
              <a:srgbClr val="FFB627">
                <a:alpha val="5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2153412" y="4507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668780" y="500176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CareerPilot AI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85032" y="4507992"/>
            <a:ext cx="402336" cy="402336"/>
          </a:xfrm>
          <a:prstGeom prst="ellipse">
            <a:avLst/>
          </a:prstGeom>
          <a:solidFill>
            <a:srgbClr val="F4661B"/>
          </a:solidFill>
          <a:ln/>
          <a:effectLst>
            <a:outerShdw sx="100000" sy="100000" kx="0" ky="0" algn="bl" rotWithShape="0" blurRad="177800" dist="50800" dir="16200000">
              <a:srgbClr val="F4661B">
                <a:alpha val="55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3685032" y="4507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3200400" y="500176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216652" y="4507992"/>
            <a:ext cx="402336" cy="402336"/>
          </a:xfrm>
          <a:prstGeom prst="ellipse">
            <a:avLst/>
          </a:prstGeom>
          <a:solidFill>
            <a:srgbClr val="D62828"/>
          </a:solidFill>
          <a:ln/>
          <a:effectLst>
            <a:outerShdw sx="100000" sy="100000" kx="0" ky="0" algn="bl" rotWithShape="0" blurRad="177800" dist="50800" dir="16200000">
              <a:srgbClr val="D62828">
                <a:alpha val="55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5216652" y="4507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4732020" y="500176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Modules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748272" y="4507992"/>
            <a:ext cx="402336" cy="402336"/>
          </a:xfrm>
          <a:prstGeom prst="ellipse">
            <a:avLst/>
          </a:prstGeom>
          <a:solidFill>
            <a:srgbClr val="9C4A2F"/>
          </a:solidFill>
          <a:ln/>
          <a:effectLst>
            <a:outerShdw sx="100000" sy="100000" kx="0" ky="0" algn="bl" rotWithShape="0" blurRad="177800" dist="50800" dir="16200000">
              <a:srgbClr val="9C4A2F">
                <a:alpha val="55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6748272" y="4507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263640" y="500176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CareerPilot AI  |  System Design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CareerPilot AI — System Design Overview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B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architecture as defined in the SRS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42416" y="1874520"/>
            <a:ext cx="10104120" cy="0"/>
          </a:xfrm>
          <a:prstGeom prst="line">
            <a:avLst/>
          </a:prstGeom>
          <a:noFill/>
          <a:ln w="25400">
            <a:solidFill>
              <a:srgbClr val="6B4A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93976" y="1623060"/>
            <a:ext cx="502920" cy="502920"/>
          </a:xfrm>
          <a:prstGeom prst="ellipse">
            <a:avLst/>
          </a:prstGeom>
          <a:solidFill>
            <a:srgbClr val="FFB627"/>
          </a:solidFill>
          <a:ln/>
          <a:effectLst>
            <a:outerShdw sx="100000" sy="100000" kx="0" ky="0" algn="bl" rotWithShape="0" blurRad="177800" dist="50800" dir="16200000">
              <a:srgbClr val="FFB627">
                <a:alpha val="5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2093976" y="16230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22376" y="2514600"/>
            <a:ext cx="3246120" cy="1874520"/>
          </a:xfrm>
          <a:prstGeom prst="roundRect">
            <a:avLst>
              <a:gd name="adj" fmla="val 3902"/>
            </a:avLst>
          </a:prstGeom>
          <a:solidFill>
            <a:srgbClr val="241813"/>
          </a:solidFill>
          <a:ln w="12700">
            <a:solidFill>
              <a:srgbClr val="5A3A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5256" y="2697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05256" y="32004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Tailwind CSS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43016" y="1623060"/>
            <a:ext cx="502920" cy="502920"/>
          </a:xfrm>
          <a:prstGeom prst="ellipse">
            <a:avLst/>
          </a:prstGeom>
          <a:solidFill>
            <a:srgbClr val="F4661B"/>
          </a:solidFill>
          <a:ln/>
          <a:effectLst>
            <a:outerShdw sx="100000" sy="100000" kx="0" ky="0" algn="bl" rotWithShape="0" blurRad="177800" dist="50800" dir="16200000">
              <a:srgbClr val="F4661B">
                <a:alpha val="5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843016" y="16230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71416" y="2514600"/>
            <a:ext cx="3246120" cy="1874520"/>
          </a:xfrm>
          <a:prstGeom prst="roundRect">
            <a:avLst>
              <a:gd name="adj" fmla="val 3902"/>
            </a:avLst>
          </a:prstGeom>
          <a:solidFill>
            <a:srgbClr val="241813"/>
          </a:solidFill>
          <a:ln w="12700">
            <a:solidFill>
              <a:srgbClr val="5A3A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54296" y="2697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6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/ AI LAYER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654296" y="32004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FastAPI + OpenAI/Gemini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592056" y="1623060"/>
            <a:ext cx="502920" cy="502920"/>
          </a:xfrm>
          <a:prstGeom prst="ellipse">
            <a:avLst/>
          </a:prstGeom>
          <a:solidFill>
            <a:srgbClr val="D62828"/>
          </a:solidFill>
          <a:ln/>
          <a:effectLst>
            <a:outerShdw sx="100000" sy="100000" kx="0" ky="0" algn="bl" rotWithShape="0" blurRad="177800" dist="50800" dir="16200000">
              <a:srgbClr val="D62828">
                <a:alpha val="5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592056" y="16230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0456" y="2514600"/>
            <a:ext cx="3246120" cy="1874520"/>
          </a:xfrm>
          <a:prstGeom prst="roundRect">
            <a:avLst>
              <a:gd name="adj" fmla="val 3902"/>
            </a:avLst>
          </a:prstGeom>
          <a:solidFill>
            <a:srgbClr val="241813"/>
          </a:solidFill>
          <a:ln w="12700">
            <a:solidFill>
              <a:srgbClr val="5A3A2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03336" y="2697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403336" y="32004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082796" y="4754880"/>
            <a:ext cx="4023360" cy="502920"/>
          </a:xfrm>
          <a:prstGeom prst="roundRect">
            <a:avLst>
              <a:gd name="adj" fmla="val 50000"/>
            </a:avLst>
          </a:prstGeom>
          <a:solidFill>
            <a:srgbClr val="2E1E17"/>
          </a:solidFill>
          <a:ln w="15875">
            <a:solidFill>
              <a:srgbClr val="6B4A3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082796" y="47548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— JWT-based secure sessions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14476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46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 </a:t>
            </a:r>
            <a:pPr indent="0" marL="0">
              <a:buNone/>
            </a:pPr>
            <a:r>
              <a:rPr lang="en-US" sz="1100" i="1" dirty="0">
                <a:solidFill>
                  <a:srgbClr val="C9B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separation of UI, application/AI logic, and data storage keeps the system modular and easy to maintain.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CareerPilot AI  |  System Design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 Relationship Diagram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B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entities and relationships supporting CareerPilot AI's major features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123694" y="978408"/>
            <a:ext cx="7941564" cy="5404104"/>
          </a:xfrm>
          <a:prstGeom prst="roundRect">
            <a:avLst>
              <a:gd name="adj" fmla="val 1015"/>
            </a:avLst>
          </a:prstGeom>
          <a:solidFill>
            <a:srgbClr val="FDF8F3"/>
          </a:solidFill>
          <a:ln w="12700">
            <a:solidFill>
              <a:srgbClr val="E7DACB"/>
            </a:solidFill>
            <a:prstDash val="solid"/>
          </a:ln>
          <a:effectLst>
            <a:outerShdw sx="100000" sy="100000" kx="0" ky="0" algn="bl" rotWithShape="0" blurRad="228600" dist="635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/home/claude/careerpilot/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8286" y="1143000"/>
            <a:ext cx="7612380" cy="5074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CareerPilot AI  |  System Design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the Database Structure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B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major features are backed by entity relationships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14400" y="1508760"/>
            <a:ext cx="10332720" cy="640080"/>
          </a:xfrm>
          <a:prstGeom prst="roundRect">
            <a:avLst>
              <a:gd name="adj" fmla="val 50000"/>
            </a:avLst>
          </a:prstGeom>
          <a:solidFill>
            <a:srgbClr val="241813"/>
          </a:solidFill>
          <a:ln w="12700">
            <a:solidFill>
              <a:srgbClr val="4A32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1645920"/>
            <a:ext cx="365760" cy="365760"/>
          </a:xfrm>
          <a:prstGeom prst="ellipse">
            <a:avLst/>
          </a:prstGeom>
          <a:solidFill>
            <a:srgbClr val="FFB627"/>
          </a:solidFill>
          <a:ln/>
          <a:effectLst>
            <a:outerShdw sx="100000" sy="100000" kx="0" ky="0" algn="bl" rotWithShape="0" blurRad="177800" dist="50800" dir="16200000">
              <a:srgbClr val="FFB627">
                <a:alpha val="5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14300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1508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15087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uploads →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508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15087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analyzed by →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1508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Analysis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2295144"/>
            <a:ext cx="10332720" cy="640080"/>
          </a:xfrm>
          <a:prstGeom prst="roundRect">
            <a:avLst>
              <a:gd name="adj" fmla="val 50000"/>
            </a:avLst>
          </a:prstGeom>
          <a:solidFill>
            <a:srgbClr val="241813"/>
          </a:solidFill>
          <a:ln w="12700">
            <a:solidFill>
              <a:srgbClr val="4A32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43000" y="2432304"/>
            <a:ext cx="365760" cy="365760"/>
          </a:xfrm>
          <a:prstGeom prst="ellipse">
            <a:avLst/>
          </a:prstGeom>
          <a:solidFill>
            <a:srgbClr val="F4661B"/>
          </a:solidFill>
          <a:ln/>
          <a:effectLst>
            <a:outerShdw sx="100000" sy="100000" kx="0" ky="0" algn="bl" rotWithShape="0" blurRad="177800" dist="50800" dir="16200000">
              <a:srgbClr val="F4661B">
                <a:alpha val="5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1143000" y="2432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737360" y="2295144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0" y="2295144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46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has →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2295144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Skills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2295144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46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references →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2295144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" y="3081528"/>
            <a:ext cx="10332720" cy="640080"/>
          </a:xfrm>
          <a:prstGeom prst="roundRect">
            <a:avLst>
              <a:gd name="adj" fmla="val 50000"/>
            </a:avLst>
          </a:prstGeom>
          <a:solidFill>
            <a:srgbClr val="241813"/>
          </a:solidFill>
          <a:ln w="12700">
            <a:solidFill>
              <a:srgbClr val="4A322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3000" y="3218688"/>
            <a:ext cx="365760" cy="365760"/>
          </a:xfrm>
          <a:prstGeom prst="ellipse">
            <a:avLst/>
          </a:prstGeom>
          <a:solidFill>
            <a:srgbClr val="D62828"/>
          </a:solidFill>
          <a:ln/>
          <a:effectLst>
            <a:outerShdw sx="100000" sy="100000" kx="0" ky="0" algn="bl" rotWithShape="0" blurRad="177800" dist="50800" dir="16200000">
              <a:srgbClr val="D62828">
                <a:alpha val="5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1143000" y="3218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737360" y="308152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657600" y="308152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takes →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0" y="308152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Interview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308152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contains →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321040" y="308152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Responses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14400" y="3867912"/>
            <a:ext cx="10332720" cy="640080"/>
          </a:xfrm>
          <a:prstGeom prst="roundRect">
            <a:avLst>
              <a:gd name="adj" fmla="val 50000"/>
            </a:avLst>
          </a:prstGeom>
          <a:solidFill>
            <a:srgbClr val="241813"/>
          </a:solidFill>
          <a:ln w="12700">
            <a:solidFill>
              <a:srgbClr val="4A322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43000" y="4005072"/>
            <a:ext cx="365760" cy="365760"/>
          </a:xfrm>
          <a:prstGeom prst="ellipse">
            <a:avLst/>
          </a:prstGeom>
          <a:solidFill>
            <a:srgbClr val="9C4A2F"/>
          </a:solidFill>
          <a:ln/>
          <a:effectLst>
            <a:outerShdw sx="100000" sy="100000" kx="0" ky="0" algn="bl" rotWithShape="0" blurRad="177800" dist="50800" dir="16200000">
              <a:srgbClr val="9C4A2F">
                <a:alpha val="5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1143000" y="4005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737360" y="386791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3657600" y="386791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C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attempts →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029200" y="386791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/ Aptitude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949440" y="386791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C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recorded as →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8321040" y="386791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Submissions / Attempts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14400" y="4654296"/>
            <a:ext cx="10332720" cy="640080"/>
          </a:xfrm>
          <a:prstGeom prst="roundRect">
            <a:avLst>
              <a:gd name="adj" fmla="val 50000"/>
            </a:avLst>
          </a:prstGeom>
          <a:solidFill>
            <a:srgbClr val="241813"/>
          </a:solidFill>
          <a:ln w="12700">
            <a:solidFill>
              <a:srgbClr val="4A322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43000" y="4791456"/>
            <a:ext cx="365760" cy="365760"/>
          </a:xfrm>
          <a:prstGeom prst="ellipse">
            <a:avLst/>
          </a:prstGeom>
          <a:solidFill>
            <a:srgbClr val="C9BBB2"/>
          </a:solidFill>
          <a:ln/>
          <a:effectLst>
            <a:outerShdw sx="100000" sy="100000" kx="0" ky="0" algn="bl" rotWithShape="0" blurRad="177800" dist="50800" dir="16200000">
              <a:srgbClr val="C9BBB2">
                <a:alpha val="55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1143000" y="4791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1737360" y="465429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3657600" y="4654296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C9B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receives →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5029200" y="465429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Readiness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614476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46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 </a:t>
            </a:r>
            <a:pPr indent="0" marL="0">
              <a:buNone/>
            </a:pPr>
            <a:r>
              <a:rPr lang="en-US" sz="1100" i="1" dirty="0">
                <a:solidFill>
                  <a:srgbClr val="C9B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 diagram shows how student placement data is stored and connected across every feature.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CareerPilot AI  |  System Design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Module — Wireframe Overview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B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screens sketched during UI planning — login, dashboard, feature list, and contact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123694" y="978408"/>
            <a:ext cx="7941564" cy="5404104"/>
          </a:xfrm>
          <a:prstGeom prst="roundRect">
            <a:avLst>
              <a:gd name="adj" fmla="val 1015"/>
            </a:avLst>
          </a:prstGeom>
          <a:solidFill>
            <a:srgbClr val="FDF8F3"/>
          </a:solidFill>
          <a:ln w="12700">
            <a:solidFill>
              <a:srgbClr val="E7DACB"/>
            </a:solidFill>
            <a:prstDash val="solid"/>
          </a:ln>
          <a:effectLst>
            <a:outerShdw sx="100000" sy="100000" kx="0" ky="0" algn="bl" rotWithShape="0" blurRad="228600" dist="635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/home/claude/careerpilot/wirefram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8286" y="1143000"/>
            <a:ext cx="7612380" cy="5074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CareerPilot AI  |  System Design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Dashboard — Wireframe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B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working screen for students after login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772400" cy="4846320"/>
          </a:xfrm>
          <a:prstGeom prst="rect">
            <a:avLst/>
          </a:prstGeom>
          <a:solidFill>
            <a:srgbClr val="FDF8F3"/>
          </a:solidFill>
          <a:ln w="12700">
            <a:solidFill>
              <a:srgbClr val="E7DACB"/>
            </a:solidFill>
            <a:prstDash val="solid"/>
          </a:ln>
          <a:effectLst>
            <a:outerShdw sx="100000" sy="100000" kx="0" ky="0" algn="bl" rotWithShape="0" blurRad="228600" dist="635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1828800" cy="4846320"/>
          </a:xfrm>
          <a:prstGeom prst="rect">
            <a:avLst/>
          </a:prstGeom>
          <a:solidFill>
            <a:srgbClr val="EFE7DD"/>
          </a:solidFill>
          <a:ln w="12700">
            <a:solidFill>
              <a:srgbClr val="B7A99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490472"/>
            <a:ext cx="1682496" cy="292608"/>
          </a:xfrm>
          <a:prstGeom prst="roundRect">
            <a:avLst>
              <a:gd name="adj" fmla="val 9375"/>
            </a:avLst>
          </a:prstGeom>
          <a:solidFill>
            <a:srgbClr val="FBE0CC"/>
          </a:solidFill>
          <a:ln w="9525">
            <a:solidFill>
              <a:srgbClr val="F4661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4904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84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8333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1762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25191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Recs.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28620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32049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Interview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35478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Practice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38907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Aptitude Tests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" y="42336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Readiness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" y="45765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49194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52623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2560320" y="153619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Morning, Student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60320" y="1920240"/>
            <a:ext cx="1325880" cy="777240"/>
          </a:xfrm>
          <a:prstGeom prst="roundRect">
            <a:avLst>
              <a:gd name="adj" fmla="val 4706"/>
            </a:avLst>
          </a:prstGeom>
          <a:solidFill>
            <a:srgbClr val="F0EAE3"/>
          </a:solidFill>
          <a:ln w="12700">
            <a:solidFill>
              <a:srgbClr val="B7A99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606040" y="19659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7A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2606040" y="230428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977640" y="1920240"/>
            <a:ext cx="1325880" cy="777240"/>
          </a:xfrm>
          <a:prstGeom prst="roundRect">
            <a:avLst>
              <a:gd name="adj" fmla="val 4706"/>
            </a:avLst>
          </a:prstGeom>
          <a:solidFill>
            <a:srgbClr val="F0EAE3"/>
          </a:solidFill>
          <a:ln w="12700">
            <a:solidFill>
              <a:srgbClr val="B7A99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023360" y="19659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7A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4023360" y="230428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394960" y="1920240"/>
            <a:ext cx="1325880" cy="777240"/>
          </a:xfrm>
          <a:prstGeom prst="roundRect">
            <a:avLst>
              <a:gd name="adj" fmla="val 4706"/>
            </a:avLst>
          </a:prstGeom>
          <a:solidFill>
            <a:srgbClr val="F0EAE3"/>
          </a:solidFill>
          <a:ln w="12700">
            <a:solidFill>
              <a:srgbClr val="B7A99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40680" y="19659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7A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440680" y="230428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812280" y="1920240"/>
            <a:ext cx="1325880" cy="777240"/>
          </a:xfrm>
          <a:prstGeom prst="roundRect">
            <a:avLst>
              <a:gd name="adj" fmla="val 4706"/>
            </a:avLst>
          </a:prstGeom>
          <a:solidFill>
            <a:srgbClr val="F0EAE3"/>
          </a:solidFill>
          <a:ln w="12700">
            <a:solidFill>
              <a:srgbClr val="B7A99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0" y="19659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7A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0" y="230428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2560320" y="283464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560320" y="3108960"/>
            <a:ext cx="5577840" cy="502920"/>
          </a:xfrm>
          <a:prstGeom prst="roundRect">
            <a:avLst>
              <a:gd name="adj" fmla="val 7273"/>
            </a:avLst>
          </a:prstGeom>
          <a:solidFill>
            <a:srgbClr val="F0EAE3"/>
          </a:solidFill>
          <a:ln w="12700">
            <a:solidFill>
              <a:srgbClr val="B7A99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606040" y="31089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Complete Resume ]   [ Take Mock Interview ]   [ Learn Missing Skills ]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2560320" y="379476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Progress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5440680" y="379476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Notifications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560320" y="4069080"/>
            <a:ext cx="2697480" cy="868680"/>
          </a:xfrm>
          <a:prstGeom prst="roundRect">
            <a:avLst>
              <a:gd name="adj" fmla="val 4211"/>
            </a:avLst>
          </a:prstGeom>
          <a:solidFill>
            <a:srgbClr val="F0EAE3"/>
          </a:solidFill>
          <a:ln w="12700">
            <a:solidFill>
              <a:srgbClr val="B7A99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606040" y="406908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▬▬▬▬▬▬▬░░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SQL ▬▬▬▬▬░░░░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DSA ▬▬▬░░░░░░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440680" y="4069080"/>
            <a:ext cx="2697480" cy="868680"/>
          </a:xfrm>
          <a:prstGeom prst="roundRect">
            <a:avLst>
              <a:gd name="adj" fmla="val 4211"/>
            </a:avLst>
          </a:prstGeom>
          <a:solidFill>
            <a:srgbClr val="F0EAE3"/>
          </a:solidFill>
          <a:ln w="12700">
            <a:solidFill>
              <a:srgbClr val="B7A99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486400" y="406908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New placement drive at TCS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Mock interview scheduled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Resume analysis completed</a:t>
            </a:r>
            <a:endParaRPr 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2560320" y="516636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Tests / Interviews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560320" y="5440680"/>
            <a:ext cx="5577840" cy="457200"/>
          </a:xfrm>
          <a:prstGeom prst="roundRect">
            <a:avLst>
              <a:gd name="adj" fmla="val 8000"/>
            </a:avLst>
          </a:prstGeom>
          <a:solidFill>
            <a:srgbClr val="F0EAE3"/>
          </a:solidFill>
          <a:ln w="12700">
            <a:solidFill>
              <a:srgbClr val="B7A99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606040" y="5440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Interview — Technical Round — Scheduled   |   Aptitude Test — Company Specific — Not Started</a:t>
            </a:r>
            <a:endParaRPr lang="en-US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8641080" y="137160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641080" y="1737360"/>
            <a:ext cx="292608" cy="292608"/>
          </a:xfrm>
          <a:prstGeom prst="ellipse">
            <a:avLst/>
          </a:prstGeom>
          <a:solidFill>
            <a:srgbClr val="FFB627"/>
          </a:solidFill>
          <a:ln/>
          <a:effectLst>
            <a:outerShdw sx="100000" sy="100000" kx="0" ky="0" algn="bl" rotWithShape="0" blurRad="177800" dist="50800" dir="16200000">
              <a:srgbClr val="FFB627">
                <a:alpha val="55000"/>
              </a:srgbClr>
            </a:outerShdw>
          </a:effectLst>
        </p:spPr>
      </p:sp>
      <p:sp>
        <p:nvSpPr>
          <p:cNvPr id="46" name="Text 44"/>
          <p:cNvSpPr txBox="1"/>
          <p:nvPr/>
        </p:nvSpPr>
        <p:spPr>
          <a:xfrm>
            <a:off x="8641080" y="1737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9025128" y="1737360"/>
            <a:ext cx="2615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5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summary — quick glance at overall placement readiness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641080" y="2651760"/>
            <a:ext cx="292608" cy="292608"/>
          </a:xfrm>
          <a:prstGeom prst="ellipse">
            <a:avLst/>
          </a:prstGeom>
          <a:solidFill>
            <a:srgbClr val="F4661B"/>
          </a:solidFill>
          <a:ln/>
          <a:effectLst>
            <a:outerShdw sx="100000" sy="100000" kx="0" ky="0" algn="bl" rotWithShape="0" blurRad="177800" dist="50800" dir="16200000">
              <a:srgbClr val="F4661B">
                <a:alpha val="55000"/>
              </a:srgbClr>
            </a:outerShdw>
          </a:effectLst>
        </p:spPr>
      </p:sp>
      <p:sp>
        <p:nvSpPr>
          <p:cNvPr id="49" name="Text 47"/>
          <p:cNvSpPr txBox="1"/>
          <p:nvPr/>
        </p:nvSpPr>
        <p:spPr>
          <a:xfrm>
            <a:off x="8641080" y="2651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9025128" y="2651760"/>
            <a:ext cx="2615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5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 — nudges the student toward the next task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8641080" y="3566160"/>
            <a:ext cx="292608" cy="292608"/>
          </a:xfrm>
          <a:prstGeom prst="ellipse">
            <a:avLst/>
          </a:prstGeom>
          <a:solidFill>
            <a:srgbClr val="D62828"/>
          </a:solidFill>
          <a:ln/>
          <a:effectLst>
            <a:outerShdw sx="100000" sy="100000" kx="0" ky="0" algn="bl" rotWithShape="0" blurRad="177800" dist="50800" dir="16200000">
              <a:srgbClr val="D62828">
                <a:alpha val="55000"/>
              </a:srgbClr>
            </a:outerShdw>
          </a:effectLst>
        </p:spPr>
      </p:sp>
      <p:sp>
        <p:nvSpPr>
          <p:cNvPr id="52" name="Text 50"/>
          <p:cNvSpPr txBox="1"/>
          <p:nvPr/>
        </p:nvSpPr>
        <p:spPr>
          <a:xfrm>
            <a:off x="8641080" y="3566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9025128" y="3566160"/>
            <a:ext cx="2615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5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progress — visual bars per tracked skill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8641080" y="4480560"/>
            <a:ext cx="292608" cy="292608"/>
          </a:xfrm>
          <a:prstGeom prst="ellipse">
            <a:avLst/>
          </a:prstGeom>
          <a:solidFill>
            <a:srgbClr val="9C4A2F"/>
          </a:solidFill>
          <a:ln/>
          <a:effectLst>
            <a:outerShdw sx="100000" sy="100000" kx="0" ky="0" algn="bl" rotWithShape="0" blurRad="177800" dist="50800" dir="16200000">
              <a:srgbClr val="9C4A2F">
                <a:alpha val="55000"/>
              </a:srgbClr>
            </a:outerShdw>
          </a:effectLst>
        </p:spPr>
      </p:sp>
      <p:sp>
        <p:nvSpPr>
          <p:cNvPr id="55" name="Text 53"/>
          <p:cNvSpPr txBox="1"/>
          <p:nvPr/>
        </p:nvSpPr>
        <p:spPr>
          <a:xfrm>
            <a:off x="8641080" y="4480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9025128" y="4480560"/>
            <a:ext cx="2615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5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notifications — latest placement &amp; system updates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8641080" y="5394960"/>
            <a:ext cx="292608" cy="292608"/>
          </a:xfrm>
          <a:prstGeom prst="ellipse">
            <a:avLst/>
          </a:prstGeom>
          <a:solidFill>
            <a:srgbClr val="FFB627"/>
          </a:solidFill>
          <a:ln/>
          <a:effectLst>
            <a:outerShdw sx="100000" sy="100000" kx="0" ky="0" algn="bl" rotWithShape="0" blurRad="177800" dist="50800" dir="16200000">
              <a:srgbClr val="FFB627">
                <a:alpha val="55000"/>
              </a:srgbClr>
            </a:outerShdw>
          </a:effectLst>
        </p:spPr>
      </p:sp>
      <p:sp>
        <p:nvSpPr>
          <p:cNvPr id="58" name="Text 56"/>
          <p:cNvSpPr txBox="1"/>
          <p:nvPr/>
        </p:nvSpPr>
        <p:spPr>
          <a:xfrm>
            <a:off x="8641080" y="5394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9025128" y="5394960"/>
            <a:ext cx="2615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5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assessments — scheduled interviews and tests</a:t>
            </a:r>
            <a:endParaRPr lang="en-US" sz="950" dirty="0"/>
          </a:p>
        </p:txBody>
      </p:sp>
      <p:sp>
        <p:nvSpPr>
          <p:cNvPr id="60" name="Text 5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CareerPilot AI  |  System Design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Features — Wireframes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B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analysis feeds skill gaps, which feed the mock interview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22376" y="1463040"/>
            <a:ext cx="3246120" cy="3520440"/>
          </a:xfrm>
          <a:prstGeom prst="roundRect">
            <a:avLst>
              <a:gd name="adj" fmla="val 1408"/>
            </a:avLst>
          </a:prstGeom>
          <a:solidFill>
            <a:srgbClr val="FDF8F3"/>
          </a:solidFill>
          <a:ln w="12700">
            <a:solidFill>
              <a:srgbClr val="E7DACB"/>
            </a:solidFill>
            <a:prstDash val="solid"/>
          </a:ln>
          <a:effectLst>
            <a:outerShdw sx="100000" sy="100000" kx="0" ky="0" algn="bl" rotWithShape="0" blurRad="228600" dist="635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05256" y="16002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6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AI ANALYSIS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05256" y="1965960"/>
            <a:ext cx="2880360" cy="411480"/>
          </a:xfrm>
          <a:prstGeom prst="roundRect">
            <a:avLst>
              <a:gd name="adj" fmla="val 8889"/>
            </a:avLst>
          </a:prstGeom>
          <a:solidFill>
            <a:srgbClr val="F0EAE3"/>
          </a:solidFill>
          <a:ln w="12700">
            <a:solidFill>
              <a:srgbClr val="B7A99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50976" y="196596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Score: 86%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05256" y="2487168"/>
            <a:ext cx="2880360" cy="502920"/>
          </a:xfrm>
          <a:prstGeom prst="roundRect">
            <a:avLst>
              <a:gd name="adj" fmla="val 7273"/>
            </a:avLst>
          </a:prstGeom>
          <a:solidFill>
            <a:srgbClr val="F0EAE3"/>
          </a:solidFill>
          <a:ln w="12700">
            <a:solidFill>
              <a:srgbClr val="B7A99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50976" y="248716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Skills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SQL, React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905256" y="3099816"/>
            <a:ext cx="2880360" cy="502920"/>
          </a:xfrm>
          <a:prstGeom prst="roundRect">
            <a:avLst>
              <a:gd name="adj" fmla="val 7273"/>
            </a:avLst>
          </a:prstGeom>
          <a:solidFill>
            <a:srgbClr val="F0EAE3"/>
          </a:solidFill>
          <a:ln w="12700">
            <a:solidFill>
              <a:srgbClr val="B7A99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50976" y="3099816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Skills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System Design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905256" y="3712464"/>
            <a:ext cx="2880360" cy="777240"/>
          </a:xfrm>
          <a:prstGeom prst="roundRect">
            <a:avLst>
              <a:gd name="adj" fmla="val 4706"/>
            </a:avLst>
          </a:prstGeom>
          <a:solidFill>
            <a:srgbClr val="F0EAE3"/>
          </a:solidFill>
          <a:ln w="12700">
            <a:solidFill>
              <a:srgbClr val="B7A99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50976" y="3712464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Suggestions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project metrics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Quantify achievements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995928" y="3223260"/>
            <a:ext cx="448056" cy="0"/>
          </a:xfrm>
          <a:prstGeom prst="line">
            <a:avLst/>
          </a:prstGeom>
          <a:noFill/>
          <a:ln w="19050">
            <a:solidFill>
              <a:srgbClr val="FFB627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471416" y="1463040"/>
            <a:ext cx="3246120" cy="3520440"/>
          </a:xfrm>
          <a:prstGeom prst="roundRect">
            <a:avLst>
              <a:gd name="adj" fmla="val 1408"/>
            </a:avLst>
          </a:prstGeom>
          <a:solidFill>
            <a:srgbClr val="FDF8F3"/>
          </a:solidFill>
          <a:ln w="12700">
            <a:solidFill>
              <a:srgbClr val="E7DACB"/>
            </a:solidFill>
            <a:prstDash val="solid"/>
          </a:ln>
          <a:effectLst>
            <a:outerShdw sx="100000" sy="100000" kx="0" ky="0" algn="bl" rotWithShape="0" blurRad="228600" dist="63500" dir="5400000">
              <a:srgbClr val="000000">
                <a:alpha val="4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654296" y="16002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 ANALYSIS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54296" y="1965960"/>
            <a:ext cx="2880360" cy="365760"/>
          </a:xfrm>
          <a:prstGeom prst="roundRect">
            <a:avLst>
              <a:gd name="adj" fmla="val 10000"/>
            </a:avLst>
          </a:prstGeom>
          <a:solidFill>
            <a:srgbClr val="F0EAE3"/>
          </a:solidFill>
          <a:ln w="12700">
            <a:solidFill>
              <a:srgbClr val="B7A99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00016" y="19659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Role: SDE-1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54296" y="2441448"/>
            <a:ext cx="2880360" cy="411480"/>
          </a:xfrm>
          <a:prstGeom prst="roundRect">
            <a:avLst>
              <a:gd name="adj" fmla="val 8889"/>
            </a:avLst>
          </a:prstGeom>
          <a:solidFill>
            <a:srgbClr val="F0EAE3"/>
          </a:solidFill>
          <a:ln w="12700">
            <a:solidFill>
              <a:srgbClr val="B7A99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00016" y="244144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Skills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54296" y="2962656"/>
            <a:ext cx="2880360" cy="411480"/>
          </a:xfrm>
          <a:prstGeom prst="roundRect">
            <a:avLst>
              <a:gd name="adj" fmla="val 8889"/>
            </a:avLst>
          </a:prstGeom>
          <a:solidFill>
            <a:srgbClr val="F0EAE3"/>
          </a:solidFill>
          <a:ln w="12700">
            <a:solidFill>
              <a:srgbClr val="B7A99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00016" y="2962656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Skills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54296" y="3483864"/>
            <a:ext cx="2880360" cy="365760"/>
          </a:xfrm>
          <a:prstGeom prst="roundRect">
            <a:avLst>
              <a:gd name="adj" fmla="val 10000"/>
            </a:avLst>
          </a:prstGeom>
          <a:solidFill>
            <a:srgbClr val="F0EAE3"/>
          </a:solidFill>
          <a:ln w="12700">
            <a:solidFill>
              <a:srgbClr val="B7A99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00016" y="3483864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Severity: High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54296" y="3959352"/>
            <a:ext cx="2880360" cy="594360"/>
          </a:xfrm>
          <a:prstGeom prst="roundRect">
            <a:avLst>
              <a:gd name="adj" fmla="val 6154"/>
            </a:avLst>
          </a:prstGeom>
          <a:solidFill>
            <a:srgbClr val="F0EAE3"/>
          </a:solidFill>
          <a:ln w="12700">
            <a:solidFill>
              <a:srgbClr val="B7A99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00016" y="3959352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Resources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DSA course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Docker basics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744968" y="3223260"/>
            <a:ext cx="448056" cy="0"/>
          </a:xfrm>
          <a:prstGeom prst="line">
            <a:avLst/>
          </a:prstGeom>
          <a:noFill/>
          <a:ln w="19050">
            <a:solidFill>
              <a:srgbClr val="FFB627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220456" y="1463040"/>
            <a:ext cx="3246120" cy="3520440"/>
          </a:xfrm>
          <a:prstGeom prst="roundRect">
            <a:avLst>
              <a:gd name="adj" fmla="val 1408"/>
            </a:avLst>
          </a:prstGeom>
          <a:solidFill>
            <a:srgbClr val="FDF8F3"/>
          </a:solidFill>
          <a:ln w="12700">
            <a:solidFill>
              <a:srgbClr val="E7DACB"/>
            </a:solidFill>
            <a:prstDash val="solid"/>
          </a:ln>
          <a:effectLst>
            <a:outerShdw sx="100000" sy="100000" kx="0" ky="0" algn="bl" rotWithShape="0" blurRad="228600" dist="63500" dir="5400000">
              <a:srgbClr val="000000">
                <a:alpha val="4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8403336" y="16002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C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MOCK INTERVIEW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403336" y="1965960"/>
            <a:ext cx="2880360" cy="365760"/>
          </a:xfrm>
          <a:prstGeom prst="roundRect">
            <a:avLst>
              <a:gd name="adj" fmla="val 10000"/>
            </a:avLst>
          </a:prstGeom>
          <a:solidFill>
            <a:srgbClr val="F0EAE3"/>
          </a:solidFill>
          <a:ln w="12700">
            <a:solidFill>
              <a:srgbClr val="B7A99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449056" y="19659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Type: Technical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403336" y="2441448"/>
            <a:ext cx="2880360" cy="502920"/>
          </a:xfrm>
          <a:prstGeom prst="roundRect">
            <a:avLst>
              <a:gd name="adj" fmla="val 7273"/>
            </a:avLst>
          </a:prstGeom>
          <a:solidFill>
            <a:srgbClr val="F0EAE3"/>
          </a:solidFill>
          <a:ln w="12700">
            <a:solidFill>
              <a:srgbClr val="B7A99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449056" y="244144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"Explain REST APIs"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403336" y="3054096"/>
            <a:ext cx="2880360" cy="640080"/>
          </a:xfrm>
          <a:prstGeom prst="roundRect">
            <a:avLst>
              <a:gd name="adj" fmla="val 5714"/>
            </a:avLst>
          </a:prstGeom>
          <a:solidFill>
            <a:srgbClr val="F0EAE3"/>
          </a:solidFill>
          <a:ln w="12700">
            <a:solidFill>
              <a:srgbClr val="B7A99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49056" y="3054096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Answer Area ]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403336" y="3803904"/>
            <a:ext cx="1394460" cy="365760"/>
          </a:xfrm>
          <a:prstGeom prst="roundRect">
            <a:avLst>
              <a:gd name="adj" fmla="val 10000"/>
            </a:avLst>
          </a:prstGeom>
          <a:solidFill>
            <a:srgbClr val="F0EAE3"/>
          </a:solidFill>
          <a:ln w="12700">
            <a:solidFill>
              <a:srgbClr val="B7A99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449056" y="3803904"/>
            <a:ext cx="13030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Submit ]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9889236" y="3803904"/>
            <a:ext cx="1394460" cy="365760"/>
          </a:xfrm>
          <a:prstGeom prst="roundRect">
            <a:avLst>
              <a:gd name="adj" fmla="val 10000"/>
            </a:avLst>
          </a:prstGeom>
          <a:solidFill>
            <a:srgbClr val="F0EAE3"/>
          </a:solidFill>
          <a:ln w="12700">
            <a:solidFill>
              <a:srgbClr val="B7A99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934956" y="3803904"/>
            <a:ext cx="13030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3/10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985516" y="530352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F4661B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2985516" y="5303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Feedback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454396" y="5532120"/>
            <a:ext cx="640080" cy="0"/>
          </a:xfrm>
          <a:prstGeom prst="line">
            <a:avLst/>
          </a:prstGeom>
          <a:noFill/>
          <a:ln w="19050">
            <a:solidFill>
              <a:srgbClr val="FFB627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140196" y="5303520"/>
            <a:ext cx="3017520" cy="457200"/>
          </a:xfrm>
          <a:prstGeom prst="roundRect">
            <a:avLst>
              <a:gd name="adj" fmla="val 50000"/>
            </a:avLst>
          </a:prstGeom>
          <a:solidFill>
            <a:srgbClr val="FFB627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140196" y="5303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Readiness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CareerPilot AI  |  System Design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Placement Officer Module — Wireframes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B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screens for monitoring and managing placements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62956" cy="2240280"/>
          </a:xfrm>
          <a:prstGeom prst="roundRect">
            <a:avLst>
              <a:gd name="adj" fmla="val 2041"/>
            </a:avLst>
          </a:prstGeom>
          <a:solidFill>
            <a:srgbClr val="FDF8F3"/>
          </a:solidFill>
          <a:ln w="12700">
            <a:solidFill>
              <a:srgbClr val="E7DACB"/>
            </a:solidFill>
            <a:prstDash val="solid"/>
          </a:ln>
          <a:effectLst>
            <a:outerShdw sx="100000" sy="100000" kx="0" ky="0" algn="bl" rotWithShape="0" blurRad="228600" dist="635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527048"/>
            <a:ext cx="49971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6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ADMIN DASHBOARD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4997196" cy="475488"/>
          </a:xfrm>
          <a:prstGeom prst="roundRect">
            <a:avLst>
              <a:gd name="adj" fmla="val 7692"/>
            </a:avLst>
          </a:prstGeom>
          <a:solidFill>
            <a:srgbClr val="F0EAE3"/>
          </a:solidFill>
          <a:ln w="12700">
            <a:solidFill>
              <a:srgbClr val="B7A99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874520"/>
            <a:ext cx="49057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Students   |   Avg. Readiness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2423160"/>
            <a:ext cx="4997196" cy="475488"/>
          </a:xfrm>
          <a:prstGeom prst="roundRect">
            <a:avLst>
              <a:gd name="adj" fmla="val 7692"/>
            </a:avLst>
          </a:prstGeom>
          <a:solidFill>
            <a:srgbClr val="F0EAE3"/>
          </a:solidFill>
          <a:ln w="12700">
            <a:solidFill>
              <a:srgbClr val="B7A99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423160"/>
            <a:ext cx="49057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Completion   |   Interview Participation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2971800"/>
            <a:ext cx="4997196" cy="475488"/>
          </a:xfrm>
          <a:prstGeom prst="roundRect">
            <a:avLst>
              <a:gd name="adj" fmla="val 7692"/>
            </a:avLst>
          </a:prstGeom>
          <a:solidFill>
            <a:srgbClr val="F0EAE3"/>
          </a:solidFill>
          <a:ln w="12700">
            <a:solidFill>
              <a:srgbClr val="B7A99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971800"/>
            <a:ext cx="49057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 Trends (chart)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77356" y="1417320"/>
            <a:ext cx="5362956" cy="2240280"/>
          </a:xfrm>
          <a:prstGeom prst="roundRect">
            <a:avLst>
              <a:gd name="adj" fmla="val 2041"/>
            </a:avLst>
          </a:prstGeom>
          <a:solidFill>
            <a:srgbClr val="FDF8F3"/>
          </a:solidFill>
          <a:ln w="12700">
            <a:solidFill>
              <a:srgbClr val="E7DACB"/>
            </a:solidFill>
            <a:prstDash val="solid"/>
          </a:ln>
          <a:effectLst>
            <a:outerShdw sx="100000" sy="100000" kx="0" ky="0" algn="bl" rotWithShape="0" blurRad="228600" dist="63500" dir="5400000">
              <a:srgbClr val="000000">
                <a:alpha val="4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60236" y="1527048"/>
            <a:ext cx="49971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STUDENT MANAGEMENT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60236" y="1874520"/>
            <a:ext cx="4997196" cy="475488"/>
          </a:xfrm>
          <a:prstGeom prst="roundRect">
            <a:avLst>
              <a:gd name="adj" fmla="val 7692"/>
            </a:avLst>
          </a:prstGeom>
          <a:solidFill>
            <a:srgbClr val="F0EAE3"/>
          </a:solidFill>
          <a:ln w="12700">
            <a:solidFill>
              <a:srgbClr val="B7A99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05956" y="1874520"/>
            <a:ext cx="49057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Search ]        [ Filters ▾ ]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60236" y="2423160"/>
            <a:ext cx="4997196" cy="475488"/>
          </a:xfrm>
          <a:prstGeom prst="roundRect">
            <a:avLst>
              <a:gd name="adj" fmla="val 7692"/>
            </a:avLst>
          </a:prstGeom>
          <a:solidFill>
            <a:srgbClr val="F0EAE3"/>
          </a:solidFill>
          <a:ln w="12700">
            <a:solidFill>
              <a:srgbClr val="B7A99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05956" y="2423160"/>
            <a:ext cx="49057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List (table)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60236" y="2971800"/>
            <a:ext cx="4997196" cy="475488"/>
          </a:xfrm>
          <a:prstGeom prst="roundRect">
            <a:avLst>
              <a:gd name="adj" fmla="val 7692"/>
            </a:avLst>
          </a:prstGeom>
          <a:solidFill>
            <a:srgbClr val="F0EAE3"/>
          </a:solidFill>
          <a:ln w="12700">
            <a:solidFill>
              <a:srgbClr val="B7A99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5956" y="2971800"/>
            <a:ext cx="49057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Score column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5362956" cy="2240280"/>
          </a:xfrm>
          <a:prstGeom prst="roundRect">
            <a:avLst>
              <a:gd name="adj" fmla="val 2041"/>
            </a:avLst>
          </a:prstGeom>
          <a:solidFill>
            <a:srgbClr val="FDF8F3"/>
          </a:solidFill>
          <a:ln w="12700">
            <a:solidFill>
              <a:srgbClr val="E7DACB"/>
            </a:solidFill>
            <a:prstDash val="solid"/>
          </a:ln>
          <a:effectLst>
            <a:outerShdw sx="100000" sy="100000" kx="0" ky="0" algn="bl" rotWithShape="0" blurRad="228600" dist="63500" dir="5400000">
              <a:srgbClr val="000000">
                <a:alpha val="4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31520" y="4087368"/>
            <a:ext cx="49971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9C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STUDENT PERFORMANCE REPORT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31520" y="4434840"/>
            <a:ext cx="4997196" cy="475488"/>
          </a:xfrm>
          <a:prstGeom prst="roundRect">
            <a:avLst>
              <a:gd name="adj" fmla="val 7692"/>
            </a:avLst>
          </a:prstGeom>
          <a:solidFill>
            <a:srgbClr val="F0EAE3"/>
          </a:solidFill>
          <a:ln w="12700">
            <a:solidFill>
              <a:srgbClr val="B7A99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4434840"/>
            <a:ext cx="49057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Score   |   Skills   |   Skill Gaps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1520" y="4983480"/>
            <a:ext cx="4997196" cy="475488"/>
          </a:xfrm>
          <a:prstGeom prst="roundRect">
            <a:avLst>
              <a:gd name="adj" fmla="val 7692"/>
            </a:avLst>
          </a:prstGeom>
          <a:solidFill>
            <a:srgbClr val="F0EAE3"/>
          </a:solidFill>
          <a:ln w="12700">
            <a:solidFill>
              <a:srgbClr val="B7A99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4983480"/>
            <a:ext cx="49057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Performance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31520" y="5532120"/>
            <a:ext cx="4997196" cy="475488"/>
          </a:xfrm>
          <a:prstGeom prst="roundRect">
            <a:avLst>
              <a:gd name="adj" fmla="val 7692"/>
            </a:avLst>
          </a:prstGeom>
          <a:solidFill>
            <a:srgbClr val="F0EAE3"/>
          </a:solidFill>
          <a:ln w="12700">
            <a:solidFill>
              <a:srgbClr val="B7A99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5532120"/>
            <a:ext cx="49057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  |   Aptitude   |   Overall Readiness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77356" y="3977640"/>
            <a:ext cx="5362956" cy="2240280"/>
          </a:xfrm>
          <a:prstGeom prst="roundRect">
            <a:avLst>
              <a:gd name="adj" fmla="val 2041"/>
            </a:avLst>
          </a:prstGeom>
          <a:solidFill>
            <a:srgbClr val="FDF8F3"/>
          </a:solidFill>
          <a:ln w="12700">
            <a:solidFill>
              <a:srgbClr val="E7DACB"/>
            </a:solidFill>
            <a:prstDash val="solid"/>
          </a:ln>
          <a:effectLst>
            <a:outerShdw sx="100000" sy="100000" kx="0" ky="0" algn="bl" rotWithShape="0" blurRad="228600" dist="63500" dir="5400000">
              <a:srgbClr val="000000">
                <a:alpha val="4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460236" y="4087368"/>
            <a:ext cx="49971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PLACEMENT NOTIFICATIONS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60236" y="4434840"/>
            <a:ext cx="4997196" cy="749808"/>
          </a:xfrm>
          <a:prstGeom prst="roundRect">
            <a:avLst>
              <a:gd name="adj" fmla="val 4878"/>
            </a:avLst>
          </a:prstGeom>
          <a:solidFill>
            <a:srgbClr val="F0EAE3"/>
          </a:solidFill>
          <a:ln w="12700">
            <a:solidFill>
              <a:srgbClr val="B7A99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05956" y="4434840"/>
            <a:ext cx="49057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Create Notification ]   [ Edit ]   [ Delete ]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60236" y="5257800"/>
            <a:ext cx="4997196" cy="749808"/>
          </a:xfrm>
          <a:prstGeom prst="roundRect">
            <a:avLst>
              <a:gd name="adj" fmla="val 4878"/>
            </a:avLst>
          </a:prstGeom>
          <a:solidFill>
            <a:srgbClr val="F0EAE3"/>
          </a:solidFill>
          <a:ln w="12700">
            <a:solidFill>
              <a:srgbClr val="B7A99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05956" y="5257800"/>
            <a:ext cx="49057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History (list)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CareerPilot AI  |  System Design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Connecting the UI with the Database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B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 maps directly to entities in the ER diagram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143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B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FEATURE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120640" y="1143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B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ENTITY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22960" y="1508760"/>
            <a:ext cx="3291840" cy="420624"/>
          </a:xfrm>
          <a:prstGeom prst="roundRect">
            <a:avLst>
              <a:gd name="adj" fmla="val 76087"/>
            </a:avLst>
          </a:prstGeom>
          <a:solidFill>
            <a:srgbClr val="241813"/>
          </a:solidFill>
          <a:ln w="13970">
            <a:solidFill>
              <a:srgbClr val="FFB62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50876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Upload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06240" y="1719072"/>
            <a:ext cx="822960" cy="0"/>
          </a:xfrm>
          <a:prstGeom prst="line">
            <a:avLst/>
          </a:prstGeom>
          <a:noFill/>
          <a:ln w="19050">
            <a:solidFill>
              <a:srgbClr val="C9BBB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120640" y="1508760"/>
            <a:ext cx="4754880" cy="420624"/>
          </a:xfrm>
          <a:prstGeom prst="roundRect">
            <a:avLst>
              <a:gd name="adj" fmla="val 13043"/>
            </a:avLst>
          </a:prstGeom>
          <a:solidFill>
            <a:srgbClr val="FDF8F3"/>
          </a:solidFill>
          <a:ln w="12700">
            <a:solidFill>
              <a:srgbClr val="E7DACB"/>
            </a:solidFill>
            <a:prstDash val="solid"/>
          </a:ln>
          <a:effectLst>
            <a:outerShdw sx="100000" sy="100000" kx="0" ky="0" algn="bl" rotWithShape="0" blurRad="228600" dist="63500" dir="54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257800" y="1508760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1B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2039112"/>
            <a:ext cx="3291840" cy="420624"/>
          </a:xfrm>
          <a:prstGeom prst="roundRect">
            <a:avLst>
              <a:gd name="adj" fmla="val 76087"/>
            </a:avLst>
          </a:prstGeom>
          <a:solidFill>
            <a:srgbClr val="241813"/>
          </a:solidFill>
          <a:ln w="13970">
            <a:solidFill>
              <a:srgbClr val="F4661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2039112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6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 Analysis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06240" y="2249424"/>
            <a:ext cx="822960" cy="0"/>
          </a:xfrm>
          <a:prstGeom prst="line">
            <a:avLst/>
          </a:prstGeom>
          <a:noFill/>
          <a:ln w="19050">
            <a:solidFill>
              <a:srgbClr val="C9BBB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20640" y="2039112"/>
            <a:ext cx="4754880" cy="420624"/>
          </a:xfrm>
          <a:prstGeom prst="roundRect">
            <a:avLst>
              <a:gd name="adj" fmla="val 13043"/>
            </a:avLst>
          </a:prstGeom>
          <a:solidFill>
            <a:srgbClr val="FDF8F3"/>
          </a:solidFill>
          <a:ln w="12700">
            <a:solidFill>
              <a:srgbClr val="E7DACB"/>
            </a:solidFill>
            <a:prstDash val="solid"/>
          </a:ln>
          <a:effectLst>
            <a:outerShdw sx="100000" sy="100000" kx="0" ky="0" algn="bl" rotWithShape="0" blurRad="228600" dist="63500" dir="5400000">
              <a:srgbClr val="000000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257800" y="2039112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1B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RESUME_ANALYSIS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2569464"/>
            <a:ext cx="3291840" cy="420624"/>
          </a:xfrm>
          <a:prstGeom prst="roundRect">
            <a:avLst>
              <a:gd name="adj" fmla="val 76087"/>
            </a:avLst>
          </a:prstGeom>
          <a:solidFill>
            <a:srgbClr val="241813"/>
          </a:solidFill>
          <a:ln w="13970">
            <a:solidFill>
              <a:srgbClr val="D6282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256946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Skills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206240" y="2779776"/>
            <a:ext cx="822960" cy="0"/>
          </a:xfrm>
          <a:prstGeom prst="line">
            <a:avLst/>
          </a:prstGeom>
          <a:noFill/>
          <a:ln w="19050">
            <a:solidFill>
              <a:srgbClr val="C9BBB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120640" y="2569464"/>
            <a:ext cx="4754880" cy="420624"/>
          </a:xfrm>
          <a:prstGeom prst="roundRect">
            <a:avLst>
              <a:gd name="adj" fmla="val 13043"/>
            </a:avLst>
          </a:prstGeom>
          <a:solidFill>
            <a:srgbClr val="FDF8F3"/>
          </a:solidFill>
          <a:ln w="12700">
            <a:solidFill>
              <a:srgbClr val="E7DACB"/>
            </a:solidFill>
            <a:prstDash val="solid"/>
          </a:ln>
          <a:effectLst>
            <a:outerShdw sx="100000" sy="100000" kx="0" ky="0" algn="bl" rotWithShape="0" blurRad="228600" dist="63500" dir="5400000">
              <a:srgbClr val="000000">
                <a:alpha val="4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257800" y="2569464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1B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STUDENT_SKILL  +  SKILL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2960" y="3099816"/>
            <a:ext cx="3291840" cy="420624"/>
          </a:xfrm>
          <a:prstGeom prst="roundRect">
            <a:avLst>
              <a:gd name="adj" fmla="val 76087"/>
            </a:avLst>
          </a:prstGeom>
          <a:solidFill>
            <a:srgbClr val="241813"/>
          </a:solidFill>
          <a:ln w="13970">
            <a:solidFill>
              <a:srgbClr val="E08B5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3099816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0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Interview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206240" y="3310128"/>
            <a:ext cx="822960" cy="0"/>
          </a:xfrm>
          <a:prstGeom prst="line">
            <a:avLst/>
          </a:prstGeom>
          <a:noFill/>
          <a:ln w="19050">
            <a:solidFill>
              <a:srgbClr val="C9BBB2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120640" y="3099816"/>
            <a:ext cx="4754880" cy="420624"/>
          </a:xfrm>
          <a:prstGeom prst="roundRect">
            <a:avLst>
              <a:gd name="adj" fmla="val 13043"/>
            </a:avLst>
          </a:prstGeom>
          <a:solidFill>
            <a:srgbClr val="FDF8F3"/>
          </a:solidFill>
          <a:ln w="12700">
            <a:solidFill>
              <a:srgbClr val="E7DACB"/>
            </a:solidFill>
            <a:prstDash val="solid"/>
          </a:ln>
          <a:effectLst>
            <a:outerShdw sx="100000" sy="100000" kx="0" ky="0" algn="bl" rotWithShape="0" blurRad="228600" dist="63500" dir="5400000">
              <a:srgbClr val="000000">
                <a:alpha val="4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5257800" y="3099816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1B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MOCK_INTERVIEW  +  INTERVIEW_RESPONSE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2960" y="3630168"/>
            <a:ext cx="3291840" cy="420624"/>
          </a:xfrm>
          <a:prstGeom prst="roundRect">
            <a:avLst>
              <a:gd name="adj" fmla="val 76087"/>
            </a:avLst>
          </a:prstGeom>
          <a:solidFill>
            <a:srgbClr val="241813"/>
          </a:solidFill>
          <a:ln w="13970">
            <a:solidFill>
              <a:srgbClr val="FFB62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3630168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Practice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206240" y="3840480"/>
            <a:ext cx="822960" cy="0"/>
          </a:xfrm>
          <a:prstGeom prst="line">
            <a:avLst/>
          </a:prstGeom>
          <a:noFill/>
          <a:ln w="19050">
            <a:solidFill>
              <a:srgbClr val="C9BBB2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120640" y="3630168"/>
            <a:ext cx="4754880" cy="420624"/>
          </a:xfrm>
          <a:prstGeom prst="roundRect">
            <a:avLst>
              <a:gd name="adj" fmla="val 13043"/>
            </a:avLst>
          </a:prstGeom>
          <a:solidFill>
            <a:srgbClr val="FDF8F3"/>
          </a:solidFill>
          <a:ln w="12700">
            <a:solidFill>
              <a:srgbClr val="E7DACB"/>
            </a:solidFill>
            <a:prstDash val="solid"/>
          </a:ln>
          <a:effectLst>
            <a:outerShdw sx="100000" sy="100000" kx="0" ky="0" algn="bl" rotWithShape="0" blurRad="228600" dist="63500" dir="5400000">
              <a:srgbClr val="000000">
                <a:alpha val="4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5257800" y="3630168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1B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CODING_PROBLEM  +  CODING_SUBMISSION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22960" y="4160520"/>
            <a:ext cx="3291840" cy="420624"/>
          </a:xfrm>
          <a:prstGeom prst="roundRect">
            <a:avLst>
              <a:gd name="adj" fmla="val 76087"/>
            </a:avLst>
          </a:prstGeom>
          <a:solidFill>
            <a:srgbClr val="241813"/>
          </a:solidFill>
          <a:ln w="13970">
            <a:solidFill>
              <a:srgbClr val="F4661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2960" y="416052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6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Aptitude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206240" y="4370832"/>
            <a:ext cx="822960" cy="0"/>
          </a:xfrm>
          <a:prstGeom prst="line">
            <a:avLst/>
          </a:prstGeom>
          <a:noFill/>
          <a:ln w="19050">
            <a:solidFill>
              <a:srgbClr val="C9BBB2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5120640" y="4160520"/>
            <a:ext cx="4754880" cy="420624"/>
          </a:xfrm>
          <a:prstGeom prst="roundRect">
            <a:avLst>
              <a:gd name="adj" fmla="val 13043"/>
            </a:avLst>
          </a:prstGeom>
          <a:solidFill>
            <a:srgbClr val="FDF8F3"/>
          </a:solidFill>
          <a:ln w="12700">
            <a:solidFill>
              <a:srgbClr val="E7DACB"/>
            </a:solidFill>
            <a:prstDash val="solid"/>
          </a:ln>
          <a:effectLst>
            <a:outerShdw sx="100000" sy="100000" kx="0" ky="0" algn="bl" rotWithShape="0" blurRad="228600" dist="63500" dir="5400000">
              <a:srgbClr val="000000">
                <a:alpha val="45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5257800" y="4160520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1B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APTITUDE_TEST  +  APTITUDE_ATTEMPT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22960" y="4690872"/>
            <a:ext cx="3291840" cy="420624"/>
          </a:xfrm>
          <a:prstGeom prst="roundRect">
            <a:avLst>
              <a:gd name="adj" fmla="val 76087"/>
            </a:avLst>
          </a:prstGeom>
          <a:solidFill>
            <a:srgbClr val="241813"/>
          </a:solidFill>
          <a:ln w="13970">
            <a:solidFill>
              <a:srgbClr val="D6282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22960" y="4690872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Dashboard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206240" y="4901184"/>
            <a:ext cx="822960" cy="0"/>
          </a:xfrm>
          <a:prstGeom prst="line">
            <a:avLst/>
          </a:prstGeom>
          <a:noFill/>
          <a:ln w="19050">
            <a:solidFill>
              <a:srgbClr val="C9BBB2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5120640" y="4690872"/>
            <a:ext cx="4754880" cy="420624"/>
          </a:xfrm>
          <a:prstGeom prst="roundRect">
            <a:avLst>
              <a:gd name="adj" fmla="val 13043"/>
            </a:avLst>
          </a:prstGeom>
          <a:solidFill>
            <a:srgbClr val="FDF8F3"/>
          </a:solidFill>
          <a:ln w="12700">
            <a:solidFill>
              <a:srgbClr val="E7DACB"/>
            </a:solidFill>
            <a:prstDash val="solid"/>
          </a:ln>
          <a:effectLst>
            <a:outerShdw sx="100000" sy="100000" kx="0" ky="0" algn="bl" rotWithShape="0" blurRad="228600" dist="63500" dir="5400000">
              <a:srgbClr val="000000">
                <a:alpha val="45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5257800" y="4690872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1B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PLACEMENT_READINESS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22960" y="5221224"/>
            <a:ext cx="3291840" cy="420624"/>
          </a:xfrm>
          <a:prstGeom prst="roundRect">
            <a:avLst>
              <a:gd name="adj" fmla="val 76087"/>
            </a:avLst>
          </a:prstGeom>
          <a:solidFill>
            <a:srgbClr val="241813"/>
          </a:solidFill>
          <a:ln w="13970">
            <a:solidFill>
              <a:srgbClr val="E08B5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22960" y="522122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0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206240" y="5431536"/>
            <a:ext cx="822960" cy="0"/>
          </a:xfrm>
          <a:prstGeom prst="line">
            <a:avLst/>
          </a:prstGeom>
          <a:noFill/>
          <a:ln w="19050">
            <a:solidFill>
              <a:srgbClr val="C9BBB2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5120640" y="5221224"/>
            <a:ext cx="4754880" cy="420624"/>
          </a:xfrm>
          <a:prstGeom prst="roundRect">
            <a:avLst>
              <a:gd name="adj" fmla="val 13043"/>
            </a:avLst>
          </a:prstGeom>
          <a:solidFill>
            <a:srgbClr val="FDF8F3"/>
          </a:solidFill>
          <a:ln w="12700">
            <a:solidFill>
              <a:srgbClr val="E7DACB"/>
            </a:solidFill>
            <a:prstDash val="solid"/>
          </a:ln>
          <a:effectLst>
            <a:outerShdw sx="100000" sy="100000" kx="0" ky="0" algn="bl" rotWithShape="0" blurRad="228600" dist="63500" dir="5400000">
              <a:srgbClr val="000000">
                <a:alpha val="45000"/>
              </a:srgbClr>
            </a:outerShdw>
          </a:effectLst>
        </p:spPr>
      </p:sp>
      <p:sp>
        <p:nvSpPr>
          <p:cNvPr id="45" name="Text 43"/>
          <p:cNvSpPr txBox="1"/>
          <p:nvPr/>
        </p:nvSpPr>
        <p:spPr>
          <a:xfrm>
            <a:off x="5257800" y="5221224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1B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614476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46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 </a:t>
            </a:r>
            <a:pPr indent="0" marL="0">
              <a:buNone/>
            </a:pPr>
            <a:r>
              <a:rPr lang="en-US" sz="1100" i="1" dirty="0">
                <a:solidFill>
                  <a:srgbClr val="C9B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mapping demonstrates that every wireframe is backed by a concrete part of the database design.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CareerPilot AI  |  System Design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CareerPilot AI — User Flow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B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journey for students and placement officers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745236" y="12344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6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FLOW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323076" y="12344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OFFICER FLOW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568196" y="1554480"/>
            <a:ext cx="3474720" cy="365760"/>
          </a:xfrm>
          <a:prstGeom prst="roundRect">
            <a:avLst>
              <a:gd name="adj" fmla="val 50000"/>
            </a:avLst>
          </a:prstGeom>
          <a:solidFill>
            <a:srgbClr val="F4661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568196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05556" y="1920240"/>
            <a:ext cx="0" cy="100584"/>
          </a:xfrm>
          <a:prstGeom prst="line">
            <a:avLst/>
          </a:prstGeom>
          <a:noFill/>
          <a:ln w="19050">
            <a:solidFill>
              <a:srgbClr val="C9BBB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568196" y="2020824"/>
            <a:ext cx="3474720" cy="365760"/>
          </a:xfrm>
          <a:prstGeom prst="roundRect">
            <a:avLst>
              <a:gd name="adj" fmla="val 50000"/>
            </a:avLst>
          </a:prstGeom>
          <a:solidFill>
            <a:srgbClr val="241813"/>
          </a:solidFill>
          <a:ln w="15875">
            <a:solidFill>
              <a:srgbClr val="F466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568196" y="202082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6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Dashboard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05556" y="2386584"/>
            <a:ext cx="0" cy="100584"/>
          </a:xfrm>
          <a:prstGeom prst="line">
            <a:avLst/>
          </a:prstGeom>
          <a:noFill/>
          <a:ln w="19050">
            <a:solidFill>
              <a:srgbClr val="C9BBB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568196" y="2487168"/>
            <a:ext cx="3474720" cy="365760"/>
          </a:xfrm>
          <a:prstGeom prst="roundRect">
            <a:avLst>
              <a:gd name="adj" fmla="val 50000"/>
            </a:avLst>
          </a:prstGeom>
          <a:solidFill>
            <a:srgbClr val="241813"/>
          </a:solidFill>
          <a:ln w="15875">
            <a:solidFill>
              <a:srgbClr val="F4661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68196" y="24871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6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05556" y="2852928"/>
            <a:ext cx="0" cy="100584"/>
          </a:xfrm>
          <a:prstGeom prst="line">
            <a:avLst/>
          </a:prstGeom>
          <a:noFill/>
          <a:ln w="19050">
            <a:solidFill>
              <a:srgbClr val="C9BBB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568196" y="2953512"/>
            <a:ext cx="3474720" cy="365760"/>
          </a:xfrm>
          <a:prstGeom prst="roundRect">
            <a:avLst>
              <a:gd name="adj" fmla="val 50000"/>
            </a:avLst>
          </a:prstGeom>
          <a:solidFill>
            <a:srgbClr val="241813"/>
          </a:solidFill>
          <a:ln w="15875">
            <a:solidFill>
              <a:srgbClr val="F466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568196" y="29535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6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05556" y="3319272"/>
            <a:ext cx="0" cy="100584"/>
          </a:xfrm>
          <a:prstGeom prst="line">
            <a:avLst/>
          </a:prstGeom>
          <a:noFill/>
          <a:ln w="19050">
            <a:solidFill>
              <a:srgbClr val="C9BBB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568196" y="3419856"/>
            <a:ext cx="3474720" cy="365760"/>
          </a:xfrm>
          <a:prstGeom prst="roundRect">
            <a:avLst>
              <a:gd name="adj" fmla="val 50000"/>
            </a:avLst>
          </a:prstGeom>
          <a:solidFill>
            <a:srgbClr val="241813"/>
          </a:solidFill>
          <a:ln w="15875">
            <a:solidFill>
              <a:srgbClr val="F4661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568196" y="341985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6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05556" y="3785616"/>
            <a:ext cx="0" cy="100584"/>
          </a:xfrm>
          <a:prstGeom prst="line">
            <a:avLst/>
          </a:prstGeom>
          <a:noFill/>
          <a:ln w="19050">
            <a:solidFill>
              <a:srgbClr val="C9BBB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568196" y="3886200"/>
            <a:ext cx="3474720" cy="365760"/>
          </a:xfrm>
          <a:prstGeom prst="roundRect">
            <a:avLst>
              <a:gd name="adj" fmla="val 50000"/>
            </a:avLst>
          </a:prstGeom>
          <a:solidFill>
            <a:srgbClr val="241813"/>
          </a:solidFill>
          <a:ln w="15875">
            <a:solidFill>
              <a:srgbClr val="F4661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568196" y="3886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6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Recommendations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05556" y="4251960"/>
            <a:ext cx="0" cy="100584"/>
          </a:xfrm>
          <a:prstGeom prst="line">
            <a:avLst/>
          </a:prstGeom>
          <a:noFill/>
          <a:ln w="19050">
            <a:solidFill>
              <a:srgbClr val="C9BBB2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568196" y="4352544"/>
            <a:ext cx="3474720" cy="365760"/>
          </a:xfrm>
          <a:prstGeom prst="roundRect">
            <a:avLst>
              <a:gd name="adj" fmla="val 50000"/>
            </a:avLst>
          </a:prstGeom>
          <a:solidFill>
            <a:srgbClr val="241813"/>
          </a:solidFill>
          <a:ln w="15875">
            <a:solidFill>
              <a:srgbClr val="F4661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68196" y="435254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6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Interview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05556" y="4718304"/>
            <a:ext cx="0" cy="100584"/>
          </a:xfrm>
          <a:prstGeom prst="line">
            <a:avLst/>
          </a:prstGeom>
          <a:noFill/>
          <a:ln w="19050">
            <a:solidFill>
              <a:srgbClr val="C9BBB2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568196" y="4818888"/>
            <a:ext cx="3474720" cy="365760"/>
          </a:xfrm>
          <a:prstGeom prst="roundRect">
            <a:avLst>
              <a:gd name="adj" fmla="val 50000"/>
            </a:avLst>
          </a:prstGeom>
          <a:solidFill>
            <a:srgbClr val="241813"/>
          </a:solidFill>
          <a:ln w="15875">
            <a:solidFill>
              <a:srgbClr val="F4661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568196" y="48188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6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/ Aptitude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05556" y="5184648"/>
            <a:ext cx="0" cy="100584"/>
          </a:xfrm>
          <a:prstGeom prst="line">
            <a:avLst/>
          </a:prstGeom>
          <a:noFill/>
          <a:ln w="19050">
            <a:solidFill>
              <a:srgbClr val="C9BBB2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568196" y="5285232"/>
            <a:ext cx="3474720" cy="365760"/>
          </a:xfrm>
          <a:prstGeom prst="roundRect">
            <a:avLst>
              <a:gd name="adj" fmla="val 50000"/>
            </a:avLst>
          </a:prstGeom>
          <a:solidFill>
            <a:srgbClr val="241813"/>
          </a:solidFill>
          <a:ln w="15875">
            <a:solidFill>
              <a:srgbClr val="F4661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568196" y="52852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6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Readiness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305556" y="5650992"/>
            <a:ext cx="0" cy="100584"/>
          </a:xfrm>
          <a:prstGeom prst="line">
            <a:avLst/>
          </a:prstGeom>
          <a:noFill/>
          <a:ln w="19050">
            <a:solidFill>
              <a:srgbClr val="C9BBB2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568196" y="5751576"/>
            <a:ext cx="3474720" cy="365760"/>
          </a:xfrm>
          <a:prstGeom prst="roundRect">
            <a:avLst>
              <a:gd name="adj" fmla="val 50000"/>
            </a:avLst>
          </a:prstGeom>
          <a:solidFill>
            <a:srgbClr val="F4661B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568196" y="575157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Dashboard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146036" y="1554480"/>
            <a:ext cx="3474720" cy="365760"/>
          </a:xfrm>
          <a:prstGeom prst="roundRect">
            <a:avLst>
              <a:gd name="adj" fmla="val 50000"/>
            </a:avLst>
          </a:prstGeom>
          <a:solidFill>
            <a:srgbClr val="FFB62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146036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Login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883396" y="1920240"/>
            <a:ext cx="0" cy="100584"/>
          </a:xfrm>
          <a:prstGeom prst="line">
            <a:avLst/>
          </a:prstGeom>
          <a:noFill/>
          <a:ln w="19050">
            <a:solidFill>
              <a:srgbClr val="C9BBB2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7146036" y="2020824"/>
            <a:ext cx="3474720" cy="365760"/>
          </a:xfrm>
          <a:prstGeom prst="roundRect">
            <a:avLst>
              <a:gd name="adj" fmla="val 50000"/>
            </a:avLst>
          </a:prstGeom>
          <a:solidFill>
            <a:srgbClr val="241813"/>
          </a:solidFill>
          <a:ln w="15875">
            <a:solidFill>
              <a:srgbClr val="FFB627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146036" y="202082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883396" y="2386584"/>
            <a:ext cx="0" cy="100584"/>
          </a:xfrm>
          <a:prstGeom prst="line">
            <a:avLst/>
          </a:prstGeom>
          <a:noFill/>
          <a:ln w="19050">
            <a:solidFill>
              <a:srgbClr val="C9BBB2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7146036" y="2487168"/>
            <a:ext cx="3474720" cy="365760"/>
          </a:xfrm>
          <a:prstGeom prst="roundRect">
            <a:avLst>
              <a:gd name="adj" fmla="val 50000"/>
            </a:avLst>
          </a:prstGeom>
          <a:solidFill>
            <a:srgbClr val="241813"/>
          </a:solidFill>
          <a:ln w="15875">
            <a:solidFill>
              <a:srgbClr val="FFB62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146036" y="24871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Management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883396" y="2852928"/>
            <a:ext cx="0" cy="100584"/>
          </a:xfrm>
          <a:prstGeom prst="line">
            <a:avLst/>
          </a:prstGeom>
          <a:noFill/>
          <a:ln w="19050">
            <a:solidFill>
              <a:srgbClr val="C9BBB2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7146036" y="2953512"/>
            <a:ext cx="3474720" cy="365760"/>
          </a:xfrm>
          <a:prstGeom prst="roundRect">
            <a:avLst>
              <a:gd name="adj" fmla="val 50000"/>
            </a:avLst>
          </a:prstGeom>
          <a:solidFill>
            <a:srgbClr val="241813"/>
          </a:solidFill>
          <a:ln w="15875">
            <a:solidFill>
              <a:srgbClr val="FFB627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146036" y="29535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Reports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883396" y="3319272"/>
            <a:ext cx="0" cy="100584"/>
          </a:xfrm>
          <a:prstGeom prst="line">
            <a:avLst/>
          </a:prstGeom>
          <a:noFill/>
          <a:ln w="19050">
            <a:solidFill>
              <a:srgbClr val="C9BBB2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7146036" y="3419856"/>
            <a:ext cx="3474720" cy="365760"/>
          </a:xfrm>
          <a:prstGeom prst="roundRect">
            <a:avLst>
              <a:gd name="adj" fmla="val 50000"/>
            </a:avLst>
          </a:prstGeom>
          <a:solidFill>
            <a:srgbClr val="FFB627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7146036" y="341985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Notifications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CareerPilot AI  |  System Design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tGPT Image Sep 22, 2026, 02_05_16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tGPT Image Sep 22, 2026, 02_06_13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tGPT Image Sep 22, 2026, 02_05_37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Flow &amp; System Workflow Diagram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B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students and placement officers move through the platform, from login to the shared system database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278981" y="978408"/>
            <a:ext cx="9634038" cy="5404104"/>
          </a:xfrm>
          <a:prstGeom prst="roundRect">
            <a:avLst>
              <a:gd name="adj" fmla="val 1015"/>
            </a:avLst>
          </a:prstGeom>
          <a:solidFill>
            <a:srgbClr val="FDF8F3"/>
          </a:solidFill>
          <a:ln w="12700">
            <a:solidFill>
              <a:srgbClr val="E7DACB"/>
            </a:solidFill>
            <a:prstDash val="solid"/>
          </a:ln>
          <a:effectLst>
            <a:outerShdw sx="100000" sy="100000" kx="0" ky="0" algn="bl" rotWithShape="0" blurRad="228600" dist="635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User Flow and System Workflow Diagra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573" y="1143000"/>
            <a:ext cx="9304854" cy="5074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CareerPilot AI  |  System Design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Data Flow Architecture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B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requests and data move between the frontend, backend, database, and AI service layers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278981" y="978408"/>
            <a:ext cx="9634038" cy="5404104"/>
          </a:xfrm>
          <a:prstGeom prst="roundRect">
            <a:avLst>
              <a:gd name="adj" fmla="val 1015"/>
            </a:avLst>
          </a:prstGeom>
          <a:solidFill>
            <a:srgbClr val="FDF8F3"/>
          </a:solidFill>
          <a:ln w="12700">
            <a:solidFill>
              <a:srgbClr val="E7DACB"/>
            </a:solidFill>
            <a:prstDash val="solid"/>
          </a:ln>
          <a:effectLst>
            <a:outerShdw sx="100000" sy="100000" kx="0" ky="0" algn="bl" rotWithShape="0" blurRad="228600" dist="635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System Data Flow Architecture Diagra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573" y="1143000"/>
            <a:ext cx="9304854" cy="5074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CareerPilot AI  |  System Design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2026-09-22T06:48:49Z</dcterms:created>
  <dcterms:modified xsi:type="dcterms:W3CDTF">2026-09-22T06:48:49Z</dcterms:modified>
</cp:coreProperties>
</file>